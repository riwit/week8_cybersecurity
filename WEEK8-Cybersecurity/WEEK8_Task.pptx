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1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13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7CFD5-5E31-8E7E-14BC-5B81A27D4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5768E-C614-5631-5B24-21357DBED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FFFCD-3642-93DD-A980-8C6E4EC40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D2FB4-5870-4F3F-9D4B-FD3F886A9E1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91557-405D-3C7B-8B27-1CBF51EB7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0602A-F33C-A8F0-39B7-40BB7A90B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96BC-5051-41EA-8C9E-1D0D6568A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103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D2273-F464-248E-246A-619047190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0C926-0FA3-EA98-7276-7F25801EB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B1FF9-0470-C3FC-A939-385E1C94F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D2FB4-5870-4F3F-9D4B-FD3F886A9E1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A2D9B-D1F8-695A-EF4E-B7486A792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F9517-9338-23F7-BEE4-E35CF5F0E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96BC-5051-41EA-8C9E-1D0D6568A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10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7B04A-53ED-94CC-986B-2665A332A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88673-E283-0C86-8FBB-3D94AAD98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9C398-C0D6-F568-781E-22DA89A9B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D2FB4-5870-4F3F-9D4B-FD3F886A9E1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1A6F0-0520-DEF9-D090-08208052D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80663-438B-AA05-2EB6-D9C6D9ED3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96BC-5051-41EA-8C9E-1D0D6568A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148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E207B-476E-49E5-A726-B5BFAF370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814DA-8618-9EB4-5218-373B2A0794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94A9-4D76-C545-B823-38582FE94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50C96-5982-CB47-1108-C4D733135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D2FB4-5870-4F3F-9D4B-FD3F886A9E1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A1A57-81AB-1A37-298D-41F21193D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34815-522C-D488-D13D-3548F5C9C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96BC-5051-41EA-8C9E-1D0D6568A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09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19170-8701-2BEE-253D-5D675DC9C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81D1B-BC86-E15B-FA25-595F4C8B4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BBBBBF-3092-36C8-4310-EE8BE976D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D9FCAF-8E03-E9AA-7CDF-7805C7506F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63CE88-2C69-96A2-6FBD-58A1F46EAB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B52CF8-5A00-B4BA-7AE1-CD7914B2E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D2FB4-5870-4F3F-9D4B-FD3F886A9E1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B0B8AB-9425-C1D0-AEFE-7A618786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3493D3-8F7D-F204-1363-C791C0A56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96BC-5051-41EA-8C9E-1D0D6568A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94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772A1-B0CA-53EA-8BD0-E505B7C45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852681-2BDB-0E1E-AD5D-B5B895389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D2FB4-5870-4F3F-9D4B-FD3F886A9E1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26B69-A7EB-2AFF-28F9-111A9EDE0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A3756-6CDA-92BB-2162-E0B998537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96BC-5051-41EA-8C9E-1D0D6568A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226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6B8633-0C3C-BEC0-9E81-ED94EA3ED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D2FB4-5870-4F3F-9D4B-FD3F886A9E1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8ADBD-9828-F7F4-EAB9-452E4468B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4201E-B4DE-8148-6724-76FD4898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96BC-5051-41EA-8C9E-1D0D6568A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762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51E9-212A-5BBB-3306-F339755EE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B26FD-5430-2C47-754F-440923477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233529-5B0A-7836-46B8-DF6EC7DCC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F0BD4-5A0C-2465-9E48-B16181973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D2FB4-5870-4F3F-9D4B-FD3F886A9E1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B397D-EA70-CFEF-98D3-57F649C51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CC85F-012C-3343-6595-8B1011112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96BC-5051-41EA-8C9E-1D0D6568A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187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17A92-FD75-9E55-27C8-B377A64E6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611B61-08E7-3E09-DF59-DAE8F50E04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DACBD9-4649-79D0-5436-D9867579C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10590-DA31-AE5B-D322-2EBF88FD0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D2FB4-5870-4F3F-9D4B-FD3F886A9E1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5363D-D4E1-DA6D-3B6E-E1E88AA26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09F02C-941F-48AE-34C6-FBA418BF0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96BC-5051-41EA-8C9E-1D0D6568A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1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0A2EE-6F75-1F43-CDE4-B87285CBC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69DA2D-01D5-663D-20EF-B39C21405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FE657-44B3-77DA-7E00-E01528699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D2FB4-5870-4F3F-9D4B-FD3F886A9E1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621CF-E420-9F15-99D3-29E83C75B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68818-5D32-D674-47A7-836ED33C3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96BC-5051-41EA-8C9E-1D0D6568A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856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A6595A-4664-10EE-3E4B-8841ACDF99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8C1BE5-F674-E8D0-93A6-17060F770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84727-73D1-19FD-7131-F2E9322E0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D2FB4-5870-4F3F-9D4B-FD3F886A9E1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0C2B0-14C8-A7E8-D894-EDD6D5ABF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F4032-C520-14DE-F23A-238E6940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196BC-5051-41EA-8C9E-1D0D6568A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872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A3D90E-056C-D946-1658-CD6DE6FC3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5A3204-93DA-E1E9-69D7-D9F71E85C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D851E-147D-8397-FCD7-40A83CE065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ED2FB4-5870-4F3F-9D4B-FD3F886A9E1A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CDB32-3BD8-C2B6-2CF0-FAFF1161D7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6A5A2-8764-98D9-9826-A65E87F247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196BC-5051-41EA-8C9E-1D0D6568AE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40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portswigger.net/burp/documentation" TargetMode="External"/><Relationship Id="rId3" Type="http://schemas.openxmlformats.org/officeDocument/2006/relationships/hyperlink" Target="https://owasp.org/www-project-juice-shop/" TargetMode="External"/><Relationship Id="rId7" Type="http://schemas.openxmlformats.org/officeDocument/2006/relationships/hyperlink" Target="https://portswigger.net/web-security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owasp.org/www-project-api-security/" TargetMode="External"/><Relationship Id="rId5" Type="http://schemas.openxmlformats.org/officeDocument/2006/relationships/hyperlink" Target="https://owasp.org/www-project-web-security-testing-guide/" TargetMode="External"/><Relationship Id="rId4" Type="http://schemas.openxmlformats.org/officeDocument/2006/relationships/hyperlink" Target="https://owasp.org/www-project-top-ten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A3D87F8-0A71-4AF2-C2E0-EFEFFC796633}"/>
              </a:ext>
            </a:extLst>
          </p:cNvPr>
          <p:cNvSpPr txBox="1"/>
          <p:nvPr/>
        </p:nvSpPr>
        <p:spPr>
          <a:xfrm>
            <a:off x="1840959" y="868952"/>
            <a:ext cx="728358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Name: -Kumbhar Dilip 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College Name: - Indus University 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Internship: - Cyber Security Internship 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Organization: - DG Intern Hub 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8 Assignment: -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Advanced VAPT – Attack Chain &amp; Full Exploitation Project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SID: - dg/September/cyber/264 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Mail: - dilipkumbhar.dginternshub@gmail.com 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8: - Theory + Practical </a:t>
            </a:r>
          </a:p>
        </p:txBody>
      </p:sp>
    </p:spTree>
    <p:extLst>
      <p:ext uri="{BB962C8B-B14F-4D97-AF65-F5344CB8AC3E}">
        <p14:creationId xmlns:p14="http://schemas.microsoft.com/office/powerpoint/2010/main" val="3090551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683E2-F2C7-4F6A-CC57-8CDE5718F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46B114-599A-BC71-6669-0815F2E13520}"/>
              </a:ext>
            </a:extLst>
          </p:cNvPr>
          <p:cNvSpPr txBox="1"/>
          <p:nvPr/>
        </p:nvSpPr>
        <p:spPr>
          <a:xfrm>
            <a:off x="1041129" y="515878"/>
            <a:ext cx="829526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Objective</a:t>
            </a:r>
          </a:p>
          <a:p>
            <a:pPr>
              <a:buNone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Attack Chain Testing?</a:t>
            </a:r>
          </a:p>
          <a:p>
            <a:pPr>
              <a:buNone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Attack chain testing means connecting multiple security weaknesses to understand how they could lead to a bigger security problem.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entry points in the application.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authentication and access controls.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Analyse requests using Burp Suite.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 the combined security impact.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 fixes to prevent attacks.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9CE171-6D4E-2731-AD3A-302931430680}"/>
              </a:ext>
            </a:extLst>
          </p:cNvPr>
          <p:cNvSpPr txBox="1"/>
          <p:nvPr/>
        </p:nvSpPr>
        <p:spPr>
          <a:xfrm>
            <a:off x="1041129" y="3756800"/>
            <a:ext cx="79547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Objective:-  Instead of finding isolated vulnerabilities, perform a complete attack chain by combining multiple weaknesses to demonstrate how a real attacker compromises a system.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9B5525-6EA7-C109-4CED-B9BC67AB5119}"/>
              </a:ext>
            </a:extLst>
          </p:cNvPr>
          <p:cNvSpPr txBox="1"/>
          <p:nvPr/>
        </p:nvSpPr>
        <p:spPr>
          <a:xfrm>
            <a:off x="1041129" y="521989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Target: OWASP Juice Shop, DVWA, Metasploit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Tool: Burp Suite</a:t>
            </a:r>
          </a:p>
        </p:txBody>
      </p:sp>
    </p:spTree>
    <p:extLst>
      <p:ext uri="{BB962C8B-B14F-4D97-AF65-F5344CB8AC3E}">
        <p14:creationId xmlns:p14="http://schemas.microsoft.com/office/powerpoint/2010/main" val="317740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4C7CB3-06B7-FE62-1B25-013B67073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D27C33-61AC-65AC-0E1F-55DB268485B9}"/>
              </a:ext>
            </a:extLst>
          </p:cNvPr>
          <p:cNvSpPr txBox="1"/>
          <p:nvPr/>
        </p:nvSpPr>
        <p:spPr>
          <a:xfrm>
            <a:off x="1066800" y="574239"/>
            <a:ext cx="5693229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Attack Surface Mapping</a:t>
            </a:r>
          </a:p>
          <a:p>
            <a:pPr>
              <a:buNone/>
            </a:pPr>
            <a:endParaRPr lang="en-IN" sz="11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the application's entry points.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Login and Registration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authentication and input validation.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Fields and Parameters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Inspect search, profile, and request values.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APIs and Sessions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 API endpoints, tokens, and permissions.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Tool: Burp Suite Proxy and Target Site map.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10D81C-5A42-0AD5-DFC5-AC0FA187E9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095581"/>
            <a:ext cx="5058481" cy="24006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01962F-7A34-BF82-335B-861722D82A76}"/>
              </a:ext>
            </a:extLst>
          </p:cNvPr>
          <p:cNvSpPr txBox="1"/>
          <p:nvPr/>
        </p:nvSpPr>
        <p:spPr>
          <a:xfrm>
            <a:off x="1066800" y="3527544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Attack Flow Diagram</a:t>
            </a:r>
          </a:p>
        </p:txBody>
      </p:sp>
    </p:spTree>
    <p:extLst>
      <p:ext uri="{BB962C8B-B14F-4D97-AF65-F5344CB8AC3E}">
        <p14:creationId xmlns:p14="http://schemas.microsoft.com/office/powerpoint/2010/main" val="976675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98ABD9-952D-8414-A00C-729613CAE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14DDDB-60A7-3FB8-571D-E3B0B71CE873}"/>
              </a:ext>
            </a:extLst>
          </p:cNvPr>
          <p:cNvSpPr txBox="1"/>
          <p:nvPr/>
        </p:nvSpPr>
        <p:spPr>
          <a:xfrm>
            <a:off x="1230086" y="41712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Vulnerabilities and Exploitation Steps:- </a:t>
            </a:r>
          </a:p>
          <a:p>
            <a:pPr>
              <a:buNone/>
            </a:pPr>
            <a:endParaRPr lang="en-IN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Vulnerabilities to investigate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723F4F-C2F8-11E9-9A6A-5575F805F5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726251"/>
              </p:ext>
            </p:extLst>
          </p:nvPr>
        </p:nvGraphicFramePr>
        <p:xfrm>
          <a:off x="1230086" y="1382486"/>
          <a:ext cx="8382000" cy="1676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2950">
                  <a:extLst>
                    <a:ext uri="{9D8B030D-6E8A-4147-A177-3AD203B41FA5}">
                      <a16:colId xmlns:a16="http://schemas.microsoft.com/office/drawing/2014/main" val="2799352719"/>
                    </a:ext>
                  </a:extLst>
                </a:gridCol>
                <a:gridCol w="5909050">
                  <a:extLst>
                    <a:ext uri="{9D8B030D-6E8A-4147-A177-3AD203B41FA5}">
                      <a16:colId xmlns:a16="http://schemas.microsoft.com/office/drawing/2014/main" val="2518494426"/>
                    </a:ext>
                  </a:extLst>
                </a:gridCol>
              </a:tblGrid>
              <a:tr h="3004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Vulnerability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Simple explanation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387612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Accessing another user's data without permission.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706418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Parameter Tampering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Changing request values to test server-side validation.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0478307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Business Logic Flaw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Using an application workflow in an unintended way.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072973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Session Weakness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Improper handling or validation of sessions.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756735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3DDEB72-5E55-857E-ACE3-922EE2406FC8}"/>
              </a:ext>
            </a:extLst>
          </p:cNvPr>
          <p:cNvSpPr txBox="1"/>
          <p:nvPr/>
        </p:nvSpPr>
        <p:spPr>
          <a:xfrm>
            <a:off x="1230086" y="3276600"/>
            <a:ext cx="448491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 steps using Burp Suite: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in to your authorized test application.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Capture a request in Proxy HTTP history.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 the request to Repeater.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 a test parameter or resource ID.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the response with the expected result.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 evidence if the weakness is confirmed.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0E1757-33ED-EA2B-2883-DF281A79C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057" y="3276600"/>
            <a:ext cx="5976258" cy="26613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213751-3F15-9E62-4642-94210B96DA5A}"/>
              </a:ext>
            </a:extLst>
          </p:cNvPr>
          <p:cNvSpPr txBox="1"/>
          <p:nvPr/>
        </p:nvSpPr>
        <p:spPr>
          <a:xfrm>
            <a:off x="1230086" y="5029438"/>
            <a:ext cx="44849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are testing targets, not claims that every vulnerability exists in your application.</a:t>
            </a:r>
          </a:p>
        </p:txBody>
      </p:sp>
    </p:spTree>
    <p:extLst>
      <p:ext uri="{BB962C8B-B14F-4D97-AF65-F5344CB8AC3E}">
        <p14:creationId xmlns:p14="http://schemas.microsoft.com/office/powerpoint/2010/main" val="754050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C49733-6D3D-1654-1429-3C967BB27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DD06F1-17E2-764E-0939-8D72C44D06D1}"/>
              </a:ext>
            </a:extLst>
          </p:cNvPr>
          <p:cNvSpPr txBox="1"/>
          <p:nvPr/>
        </p:nvSpPr>
        <p:spPr>
          <a:xfrm>
            <a:off x="1143000" y="629254"/>
            <a:ext cx="5812971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Impact and Risk Analysis</a:t>
            </a:r>
          </a:p>
          <a:p>
            <a:pPr>
              <a:buNone/>
            </a:pPr>
            <a:endParaRPr lang="en-IN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could happen if vulnerabilities are chained together?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Exposure</a:t>
            </a: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Unauthorized access to private user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 Compromise</a:t>
            </a: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Possible misuse of an account if authentication or authorization fails.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Risk</a:t>
            </a: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Privacy loss, financial damage, and reduced customer trust.</a:t>
            </a:r>
          </a:p>
          <a:p>
            <a:pPr>
              <a:buNone/>
            </a:pPr>
            <a:endParaRPr lang="en-IN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Severity: 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/ Medium / High / Critical, depending on the verified impact and exploitability.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FA141F-3531-F213-0546-4E267050C5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8722" y="3011963"/>
            <a:ext cx="3781953" cy="1267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34E9A6-ACD1-5DFF-5226-3F5517795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8722" y="1166293"/>
            <a:ext cx="4324954" cy="1409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46D29F-7F78-F78C-9A4A-0677D1CD6D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0720" y="4966742"/>
            <a:ext cx="5884304" cy="16248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344299-5BB5-541B-C447-EE86BB077D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5223" y="5150511"/>
            <a:ext cx="302895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432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D6768F-FA3E-C444-294E-6F7B1323C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81A599-2821-505D-9C97-84C491214200}"/>
              </a:ext>
            </a:extLst>
          </p:cNvPr>
          <p:cNvSpPr txBox="1"/>
          <p:nvPr/>
        </p:nvSpPr>
        <p:spPr>
          <a:xfrm>
            <a:off x="348343" y="237693"/>
            <a:ext cx="5279571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Fix the Vulnerabilities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 Control: 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user permissions on every protected server-side request.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Example:- if (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user.role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!== "admin") {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return 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res.status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(403).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({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error: "Access denied"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});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IDOR: 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Verify resource ownership before returning or modifying data.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of an IDOR vulnerability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 made by User A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 /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/profile/101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server returns User A's profile.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Attack attempt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 /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/profile/102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server returns User B's profile without checking ownership, an IDOR vulnerability exists.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it Fixed:-</a:t>
            </a:r>
          </a:p>
          <a:p>
            <a:pPr lvl="1"/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profile = await 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db.profile.findFirst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({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where: {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id: 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requestedId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userId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loggedInUser.id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});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(!profile) {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return 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res.status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(404).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({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error: "Profile not found"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});</a:t>
            </a:r>
          </a:p>
          <a:p>
            <a:pPr lvl="1"/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4C93C7-83BA-4CC0-8F17-CFC984B81B50}"/>
              </a:ext>
            </a:extLst>
          </p:cNvPr>
          <p:cNvSpPr txBox="1"/>
          <p:nvPr/>
        </p:nvSpPr>
        <p:spPr>
          <a:xfrm>
            <a:off x="6694714" y="336828"/>
            <a:ext cx="4898572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IN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Session Security: </a:t>
            </a:r>
            <a:r>
              <a:rPr lang="en-IN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session identifies a logged-in user. If an attacker steals or abuses a session, they may be able to act as that user.</a:t>
            </a:r>
          </a:p>
          <a:p>
            <a:pPr marL="0" marR="0" indent="0" algn="l">
              <a:spcBef>
                <a:spcPts val="1200"/>
              </a:spcBef>
              <a:buNone/>
            </a:pPr>
            <a:r>
              <a:rPr lang="en-IN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How to fix it:</a:t>
            </a:r>
            <a:endParaRPr lang="en-IN" sz="1400" b="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Secure cookies:</a:t>
            </a:r>
            <a:r>
              <a:rPr lang="en-IN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Use </a:t>
            </a:r>
            <a:r>
              <a:rPr lang="en-IN" sz="1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HttpOnly</a:t>
            </a:r>
            <a:r>
              <a:rPr lang="en-IN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Secure, and an appropriate </a:t>
            </a:r>
            <a:r>
              <a:rPr lang="en-IN" sz="1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SameSite</a:t>
            </a:r>
            <a:r>
              <a:rPr lang="en-IN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setting.</a:t>
            </a:r>
          </a:p>
          <a:p>
            <a:pPr marL="0" marR="0" lvl="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Session rotation:</a:t>
            </a:r>
            <a:r>
              <a:rPr lang="en-IN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Generate a new session ID after login and after important privilege changes.</a:t>
            </a:r>
          </a:p>
          <a:p>
            <a:pPr marL="0" marR="0" lvl="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Session expiration:</a:t>
            </a:r>
            <a:r>
              <a:rPr lang="en-IN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Expire sessions after a suitable period of inactivity and enforce an absolute lifetime.</a:t>
            </a:r>
          </a:p>
          <a:p>
            <a:pPr marL="0" marR="0" lvl="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Logout:</a:t>
            </a:r>
            <a:r>
              <a:rPr lang="en-IN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Invalidate the session on the server when the user logs out.</a:t>
            </a:r>
          </a:p>
          <a:p>
            <a:pPr marL="0" marR="0" lvl="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HTTPS:</a:t>
            </a:r>
            <a:r>
              <a:rPr lang="en-IN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Protect session information while it travels between the browser and server.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69E662-C862-258E-0FBE-1857A7D900D4}"/>
              </a:ext>
            </a:extLst>
          </p:cNvPr>
          <p:cNvSpPr txBox="1"/>
          <p:nvPr/>
        </p:nvSpPr>
        <p:spPr>
          <a:xfrm>
            <a:off x="6694714" y="4276368"/>
            <a:ext cx="6096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app.use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(session({</a:t>
            </a:r>
          </a:p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secret: 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process.env.SESSION_SECRET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cookie: {</a:t>
            </a:r>
          </a:p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httpOnly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true,</a:t>
            </a:r>
          </a:p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secure: true,</a:t>
            </a:r>
          </a:p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sameSite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"lax",</a:t>
            </a:r>
          </a:p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maxAge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30 * 60 * 1000</a:t>
            </a:r>
          </a:p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},</a:t>
            </a:r>
          </a:p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resave: false,</a:t>
            </a:r>
          </a:p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N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saveUninitialized</a:t>
            </a:r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false</a:t>
            </a:r>
          </a:p>
          <a:p>
            <a:r>
              <a:rPr lang="en-I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}));</a:t>
            </a:r>
          </a:p>
        </p:txBody>
      </p:sp>
    </p:spTree>
    <p:extLst>
      <p:ext uri="{BB962C8B-B14F-4D97-AF65-F5344CB8AC3E}">
        <p14:creationId xmlns:p14="http://schemas.microsoft.com/office/powerpoint/2010/main" val="2743039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78DB90-E282-2696-63D0-95C562D41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95B6C9-DE11-FB3D-7467-6F42C3FDCC1D}"/>
              </a:ext>
            </a:extLst>
          </p:cNvPr>
          <p:cNvSpPr txBox="1"/>
          <p:nvPr/>
        </p:nvSpPr>
        <p:spPr>
          <a:xfrm>
            <a:off x="947057" y="349239"/>
            <a:ext cx="96882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Conclusion: Advanced VAPT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VAPT (Vulnerability Assessment and Penetration Testing) helps identify security weaknesses in a web application and understand how multiple vulnerabilities can combine to create serious security risks.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identifying vulnerabilities, safely demonstrating their impact, and implementing appropriate security fixes, we can prevent unauthorized access, protect sensitive data, and improve the overall security of the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main goal of Advanced VAPT is to find vulnerabilities before attackers exploit them, fix them effectively, and retest the application to ensure that it is secure.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4FA544-2D65-5C9C-0623-C6D3CF6B2150}"/>
              </a:ext>
            </a:extLst>
          </p:cNvPr>
          <p:cNvSpPr txBox="1"/>
          <p:nvPr/>
        </p:nvSpPr>
        <p:spPr>
          <a:xfrm>
            <a:off x="947057" y="2723109"/>
            <a:ext cx="1083128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OWASP Juice Shop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Vulnerable web application for security testing</a:t>
            </a:r>
            <a:b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https://owasp.org/www-project-juice-shop/</a:t>
            </a: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OWASP Top 10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Common web application security risks</a:t>
            </a:r>
            <a:b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https://owasp.org/www-project-top-ten/</a:t>
            </a: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OWASP Web Security Testing Guide (WSTG)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Web application testing methods</a:t>
            </a:r>
            <a:b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https://owasp.org/www-project-web-security-testing-guide/</a:t>
            </a: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OWASP API Security Top 10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API security risks and prevention</a:t>
            </a:r>
            <a:b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https://owasp.org/www-project-api-security/</a:t>
            </a: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PortSwigger</a:t>
            </a: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Web Security Academy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Burp Suite tutorials and practical labs</a:t>
            </a:r>
            <a:b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https://portswigger.net/web-security</a:t>
            </a: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Burp Suite Documentation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Proxy, Repeater, and request analysis</a:t>
            </a:r>
            <a:b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https://portswigger.net/burp/documentation</a:t>
            </a: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Practical testing and screenshots are based on my own authorized lab work for the DG Interns Hub Week 8 Advanced VAPT project.</a:t>
            </a:r>
          </a:p>
        </p:txBody>
      </p:sp>
    </p:spTree>
    <p:extLst>
      <p:ext uri="{BB962C8B-B14F-4D97-AF65-F5344CB8AC3E}">
        <p14:creationId xmlns:p14="http://schemas.microsoft.com/office/powerpoint/2010/main" val="813660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F16A96-15D4-2789-A6F1-A77738D90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4646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983</Words>
  <Application>Microsoft Office PowerPoint</Application>
  <PresentationFormat>Widescreen</PresentationFormat>
  <Paragraphs>119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kumbhar dilip</dc:creator>
  <cp:lastModifiedBy>kumbhar dilip</cp:lastModifiedBy>
  <cp:revision>1</cp:revision>
  <dcterms:created xsi:type="dcterms:W3CDTF">2026-10-26T07:56:50Z</dcterms:created>
  <dcterms:modified xsi:type="dcterms:W3CDTF">2026-10-26T12:10:43Z</dcterms:modified>
</cp:coreProperties>
</file>